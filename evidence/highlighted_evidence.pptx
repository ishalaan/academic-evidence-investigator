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66" r:id="rId2"/>
    <p:sldId id="267" r:id="rId3"/>
    <p:sldId id="268" r:id="rId4"/>
    <p:sldId id="269" r:id="rId5"/>
    <p:sldId id="270" r:id="rId6"/>
    <p:sldId id="271" r:id="rId7"/>
    <p:sldId id="272" r:id="rId8"/>
    <p:sldId id="27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000E"/>
    <a:srgbClr val="96959D"/>
    <a:srgbClr val="131215"/>
    <a:srgbClr val="320006"/>
    <a:srgbClr val="64000C"/>
    <a:srgbClr val="3C3C3C"/>
    <a:srgbClr val="232323"/>
    <a:srgbClr val="2F2F2F"/>
    <a:srgbClr val="373737"/>
    <a:srgbClr val="7171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0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9FCA90-CAB2-4115-B569-C396C7FEF747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E9DC91-3305-4C37-AD2F-6023BDC22B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82250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18E7E4-0B59-0B9B-E580-CF9BF66AA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390AF3-CB2F-113D-B256-716591801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23BFD-3F9F-AFB8-D473-A8DDB66B19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F4023F-13CB-082B-A603-DAB14BEB16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E9DC91-3305-4C37-AD2F-6023BDC22BFC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40758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6E2EB-906C-D0B6-A549-630DA29EB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2AE712-8BE4-77EF-9BFB-0273D562CE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C363EC-762A-E39B-F649-7E8C3CB35D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5F3438-FA12-D375-CE57-6043E4ADFE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E9DC91-3305-4C37-AD2F-6023BDC22BFC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63091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705FB-2B34-962A-C5E3-188FF59D9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B39F04-B828-BCA7-B25E-C10BE3939E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9059D6-F3AD-94F1-AC8A-F510540870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A633E-EAA4-22A3-D7AC-09DDFD290D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E9DC91-3305-4C37-AD2F-6023BDC22BFC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90982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709A1-1CCE-069C-6F3E-11B5A68E9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113D11-8458-439B-1B51-F36B722233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5C042C-3430-EA35-150C-BA873D80AF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5DBE5B-2440-F3BF-4B16-330E04AFE8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E9DC91-3305-4C37-AD2F-6023BDC22BFC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24804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20EA1-4812-F1E2-8E9E-5C0E6AE17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66C6FB-3702-F0EC-C74A-41235C3F6B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4FBDB-89F9-7136-3DCA-893626266E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D9445E-04CA-13C0-F221-D5D0260D7C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E9DC91-3305-4C37-AD2F-6023BDC22BFC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07415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360F1-1BBB-C4F3-E57D-66B9FA595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38D9D7-5C64-88B0-0C41-AA734DAE08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AEA141-785C-05BD-45A3-8BE8797D4C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FD3E75-4F9A-01FE-9187-03B2AD0C4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E9DC91-3305-4C37-AD2F-6023BDC22BFC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0253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E7E8B-1A42-F963-7DE8-98D865597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212F8D-718D-5DC9-2BF7-B891F2A75C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51AB0F-012A-ECF5-D043-63A7438BCC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761900-A3CC-A65F-3DF4-786AAD9CD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E9DC91-3305-4C37-AD2F-6023BDC22BFC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31494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556CA-36C2-597C-7A1C-1A8639E5D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DD694F-30A9-99CA-206F-8BA744BF72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AB0E07-0624-CD63-F981-EE419DE949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55CD6A-311A-0D40-53B3-DCF123A9A0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E9DC91-3305-4C37-AD2F-6023BDC22BFC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80654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405E1-72C6-F07C-151D-DBFAB24755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F6222C-2F9A-CA35-0F82-F82DD3D0E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8A3E7B-2E2B-9B45-A0C4-9377B85A3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61DB52-DB2C-401C-B323-C11A4C56AD5E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8762A8-B435-566C-95EF-C83E829B0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36786B-79D4-D818-0C8C-64B680640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5E57B-17BE-4B75-872C-5F960D92E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9095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88B84-29CA-31BA-68F6-894D31D06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2E9E38-73DA-F93F-B599-CC637AA97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F7F53D-B28A-7A13-DCFD-689BBF28C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61DB52-DB2C-401C-B323-C11A4C56AD5E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340E69-ABC3-E0FC-0456-263079D0B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C3AA49-2737-1317-C94C-A631BE498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5E57B-17BE-4B75-872C-5F960D92E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34216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258CD-582A-3312-BF7A-2453377AB7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ABC814-EB95-C035-422B-16A23ABA7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96035-163F-729B-FAAB-547644B35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61DB52-DB2C-401C-B323-C11A4C56AD5E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EB5D8-1278-9398-7354-089DCA26D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642A64-1BA7-77A7-EBFE-F3A893410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5E57B-17BE-4B75-872C-5F960D92E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49389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F5A18-720E-3CCD-8AD5-9F6C7501C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606CCD-B82A-C32A-2D02-3870CBAF77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93B54F-3E02-7E47-AAE1-37B2B295F0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117FA1-7B71-B570-0902-0D0801182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61DB52-DB2C-401C-B323-C11A4C56AD5E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53460A-2DD1-8BC9-C710-0B213B21A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4BBB95-2A31-05D0-47A6-4BACFCCEB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5E57B-17BE-4B75-872C-5F960D92E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86190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D01BA-2F19-9DFF-BAE0-EEE0154829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2EF8C4-1B5F-9D6C-4818-25985ED36F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20C265-A89A-C717-4E56-309A705089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350127-999C-6876-87FE-9FF9F461C4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45B298-40B5-7243-907F-BE695D77D8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C35CFF-BD02-C937-E425-076A33029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61DB52-DB2C-401C-B323-C11A4C56AD5E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3C0955-6107-06A9-9593-2539F4F95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FB5B91-7330-FF49-08C2-22BC58D3B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5E57B-17BE-4B75-872C-5F960D92E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9403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9E6541-B9A8-D7DA-335E-FA9A87D65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CEB89B-E2A2-004D-ABEB-42553876A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61DB52-DB2C-401C-B323-C11A4C56AD5E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ACC6B8-06B2-EE21-2CA9-174AD64D4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8BFA9E-47AC-450C-08D4-E7D225BAA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5E57B-17BE-4B75-872C-5F960D92E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0087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E83925-F069-237F-87E2-AC13A9663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61DB52-DB2C-401C-B323-C11A4C56AD5E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AEF8D5-773B-C307-F093-9713600C5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93567-C849-1CDD-98A5-7375AD5F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5E57B-17BE-4B75-872C-5F960D92E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7928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D266F-81ED-BCE6-B431-AA7F8A17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0EFC9-137C-F7BF-CF14-2DE55B35D1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F30A25-3B00-B323-3475-3FBA29302A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782D0-AE5B-5E19-7F6C-DFAD39D44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61DB52-DB2C-401C-B323-C11A4C56AD5E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351FEF-6246-CA0E-A749-63CF9A212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6E322C-37D8-8E93-A5E2-9C215EFB5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5E57B-17BE-4B75-872C-5F960D92E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2714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8D661-5345-9548-0F9F-C50AB90CB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E90DF2-63B0-1E45-8CE8-82F2FA595B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C204F5-05A1-F88F-CF44-674B23472F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349BAC-D448-79C2-357C-629E46DC4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61DB52-DB2C-401C-B323-C11A4C56AD5E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BEC276-3A3D-14C3-D6A5-23C129AA9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DC4216-D5AB-F847-F347-D34DE9FE9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5E57B-17BE-4B75-872C-5F960D92E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4577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EA764-C0E0-3D6A-A470-0692540F6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E558AD-1F25-A3D4-A5F9-42169E3257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95DF78-AB7D-FA82-4357-386BD2094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61DB52-DB2C-401C-B323-C11A4C56AD5E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501A51-5AC3-3839-A587-5ABD92FDC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81E8F-7C91-1A88-5C2C-A12066B113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5E57B-17BE-4B75-872C-5F960D92E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62850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A52D86-DFA3-3E41-C046-31ABBC5505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6B6038-F586-2519-339E-A2AC8BBD0D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650283-1CE3-4079-1F66-E19EC1A45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61DB52-DB2C-401C-B323-C11A4C56AD5E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C7ED51-4A6A-F370-E36F-51EE93285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B2471E-7A3F-11F7-A5A1-9B86EAC65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05E57B-17BE-4B75-872C-5F960D92E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83717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D21C59F-15E2-F415-7443-723139BF7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124A06-3192-2E57-1115-EF42448D64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EB821C-2ABE-D789-FCD9-20B536426C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61DB52-DB2C-401C-B323-C11A4C56AD5E}" type="datetimeFigureOut">
              <a:rPr lang="en-GB" smtClean="0"/>
              <a:t>22/09/2026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FE5849-62C7-8D5E-E087-AF1648D105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3EEEBB-42B9-FB73-864C-C9A17CC43F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05E57B-17BE-4B75-872C-5F960D92EF2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829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hyperlink" Target="https://github.com/ishalaan/academic-evidence-investigator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8C789-38E8-FBEB-A1C3-338A48882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9559B8-B6B1-D22E-D1C7-CA122F0EC14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 l="17648"/>
          <a:stretch>
            <a:fillRect/>
          </a:stretch>
        </p:blipFill>
        <p:spPr>
          <a:xfrm>
            <a:off x="0" y="0"/>
            <a:ext cx="1219200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E7C1C5-FE3B-1F3A-05AD-887C5F6D2B4D}"/>
              </a:ext>
            </a:extLst>
          </p:cNvPr>
          <p:cNvSpPr txBox="1"/>
          <p:nvPr/>
        </p:nvSpPr>
        <p:spPr>
          <a:xfrm>
            <a:off x="423331" y="310663"/>
            <a:ext cx="112206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76000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Evidence A</a:t>
            </a:r>
          </a:p>
          <a:p>
            <a:r>
              <a:rPr lang="en-GB" sz="4800" b="1" spc="-150" dirty="0">
                <a:ln w="0"/>
                <a:gradFill>
                  <a:gsLst>
                    <a:gs pos="100000">
                      <a:srgbClr val="53575C"/>
                    </a:gs>
                    <a:gs pos="0">
                      <a:schemeClr val="bg1"/>
                    </a:gs>
                  </a:gsLst>
                  <a:lin ang="5400000"/>
                </a:gradFill>
                <a:latin typeface="Arial"/>
                <a:ea typeface="Arial"/>
                <a:cs typeface="Arial"/>
              </a:rPr>
              <a:t>Model / Provider Compatibility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2401A6-7516-634A-254C-94092F3AB0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2443" y="2279293"/>
            <a:ext cx="5461566" cy="3242805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6E641CB-155F-2B7F-524C-08EA55BF5F4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991" y="2279293"/>
            <a:ext cx="5461566" cy="3242805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30F1D19-C2D8-60F7-79F5-35EEB8A771A2}"/>
              </a:ext>
            </a:extLst>
          </p:cNvPr>
          <p:cNvSpPr txBox="1"/>
          <p:nvPr/>
        </p:nvSpPr>
        <p:spPr>
          <a:xfrm>
            <a:off x="423330" y="1433478"/>
            <a:ext cx="11220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Referenced in Slide 6: </a:t>
            </a:r>
            <a:r>
              <a:rPr lang="en-GB" dirty="0">
                <a:solidFill>
                  <a:srgbClr val="96959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Qwen2.5-7B-Instruct was unavailable through Hugging Face.</a:t>
            </a:r>
          </a:p>
        </p:txBody>
      </p:sp>
    </p:spTree>
    <p:extLst>
      <p:ext uri="{BB962C8B-B14F-4D97-AF65-F5344CB8AC3E}">
        <p14:creationId xmlns:p14="http://schemas.microsoft.com/office/powerpoint/2010/main" val="2955078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826DE-8F59-AFF9-D759-1553F5DD1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B5FA8B7-4ECA-8AF8-96B3-BBE335F57C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 l="17648"/>
          <a:stretch>
            <a:fillRect/>
          </a:stretch>
        </p:blipFill>
        <p:spPr>
          <a:xfrm>
            <a:off x="0" y="0"/>
            <a:ext cx="1219200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6740728-3F70-F1FD-BCE2-D1BB36768955}"/>
              </a:ext>
            </a:extLst>
          </p:cNvPr>
          <p:cNvSpPr txBox="1"/>
          <p:nvPr/>
        </p:nvSpPr>
        <p:spPr>
          <a:xfrm>
            <a:off x="423331" y="310663"/>
            <a:ext cx="112206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76000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Evidence B</a:t>
            </a:r>
          </a:p>
          <a:p>
            <a:r>
              <a:rPr lang="en-GB" sz="4800" b="1" spc="-150" dirty="0">
                <a:ln w="0"/>
                <a:gradFill>
                  <a:gsLst>
                    <a:gs pos="100000">
                      <a:srgbClr val="53575C"/>
                    </a:gs>
                    <a:gs pos="0">
                      <a:schemeClr val="bg1"/>
                    </a:gs>
                  </a:gsLst>
                  <a:lin ang="5400000"/>
                </a:gradFill>
                <a:latin typeface="Arial"/>
                <a:ea typeface="Arial"/>
                <a:cs typeface="Arial"/>
              </a:rPr>
              <a:t>Full-Text Recovery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CAE0216-0FFC-2CFC-DCBA-46EF47F2FE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946" y="2386804"/>
            <a:ext cx="4752898" cy="3949518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8941C8D-4A39-AE3F-8BC0-FB05415764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1156" y="2386804"/>
            <a:ext cx="4752898" cy="3949518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450DBE0-6AF5-1A1A-7372-0B91A61634FD}"/>
              </a:ext>
            </a:extLst>
          </p:cNvPr>
          <p:cNvSpPr txBox="1"/>
          <p:nvPr/>
        </p:nvSpPr>
        <p:spPr>
          <a:xfrm>
            <a:off x="423330" y="1433478"/>
            <a:ext cx="112206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Referenced in Slide 6: </a:t>
            </a:r>
            <a:r>
              <a:rPr lang="en-GB" dirty="0">
                <a:solidFill>
                  <a:srgbClr val="96959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Access/download failures appeared as PDF extraction failures, and some available full text was missed.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1CA4E5-5955-DD1C-4D99-5FF360655D07}"/>
              </a:ext>
            </a:extLst>
          </p:cNvPr>
          <p:cNvSpPr/>
          <p:nvPr/>
        </p:nvSpPr>
        <p:spPr>
          <a:xfrm>
            <a:off x="995806" y="3469670"/>
            <a:ext cx="4877177" cy="195485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431E69-0F1E-FAEC-DBD5-99311A7F402C}"/>
              </a:ext>
            </a:extLst>
          </p:cNvPr>
          <p:cNvSpPr txBox="1"/>
          <p:nvPr/>
        </p:nvSpPr>
        <p:spPr>
          <a:xfrm>
            <a:off x="7906283" y="4447096"/>
            <a:ext cx="18883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srgbClr val="00B050"/>
                </a:solidFill>
              </a:rPr>
              <a:t>Issue Fixed</a:t>
            </a:r>
          </a:p>
        </p:txBody>
      </p:sp>
    </p:spTree>
    <p:extLst>
      <p:ext uri="{BB962C8B-B14F-4D97-AF65-F5344CB8AC3E}">
        <p14:creationId xmlns:p14="http://schemas.microsoft.com/office/powerpoint/2010/main" val="1731993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3F3362-81F2-7D92-A399-3F3EC2B83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E13D25A-15C0-D057-F116-767CCF4583C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 l="17648"/>
          <a:stretch>
            <a:fillRect/>
          </a:stretch>
        </p:blipFill>
        <p:spPr>
          <a:xfrm>
            <a:off x="0" y="0"/>
            <a:ext cx="1219200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F222096-1106-8971-496F-87B44E5CE929}"/>
              </a:ext>
            </a:extLst>
          </p:cNvPr>
          <p:cNvSpPr txBox="1"/>
          <p:nvPr/>
        </p:nvSpPr>
        <p:spPr>
          <a:xfrm>
            <a:off x="423331" y="310663"/>
            <a:ext cx="112206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76000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Evidence C</a:t>
            </a:r>
          </a:p>
          <a:p>
            <a:r>
              <a:rPr lang="en-GB" sz="4800" b="1" spc="-150" dirty="0">
                <a:ln w="0"/>
                <a:gradFill>
                  <a:gsLst>
                    <a:gs pos="100000">
                      <a:srgbClr val="53575C"/>
                    </a:gs>
                    <a:gs pos="0">
                      <a:schemeClr val="bg1"/>
                    </a:gs>
                  </a:gsLst>
                  <a:lin ang="5400000"/>
                </a:gradFill>
                <a:latin typeface="Arial"/>
                <a:ea typeface="Arial"/>
                <a:cs typeface="Arial"/>
              </a:rPr>
              <a:t>Oversized Reporting Request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1CCBF6-EDEA-5753-8332-A8F6BC705B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3595" y="2443798"/>
            <a:ext cx="9678239" cy="393988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8820A17-5ED7-FD3D-69C6-839F08BDC341}"/>
              </a:ext>
            </a:extLst>
          </p:cNvPr>
          <p:cNvSpPr/>
          <p:nvPr/>
        </p:nvSpPr>
        <p:spPr>
          <a:xfrm>
            <a:off x="1635368" y="3657599"/>
            <a:ext cx="8924193" cy="580294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84288E-315B-3130-C045-C7610F75498A}"/>
              </a:ext>
            </a:extLst>
          </p:cNvPr>
          <p:cNvSpPr txBox="1"/>
          <p:nvPr/>
        </p:nvSpPr>
        <p:spPr>
          <a:xfrm>
            <a:off x="423330" y="1433478"/>
            <a:ext cx="11220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Referenced in Slide 6: </a:t>
            </a:r>
            <a:r>
              <a:rPr lang="en-GB" dirty="0">
                <a:solidFill>
                  <a:srgbClr val="96959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Summary completed, but the Findings request exceeded the 24,000-character budget.</a:t>
            </a:r>
          </a:p>
        </p:txBody>
      </p:sp>
    </p:spTree>
    <p:extLst>
      <p:ext uri="{BB962C8B-B14F-4D97-AF65-F5344CB8AC3E}">
        <p14:creationId xmlns:p14="http://schemas.microsoft.com/office/powerpoint/2010/main" val="11123492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0CD77-0528-39D9-8901-6AB4895ED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B37A6C3-9626-C291-E11C-8AB75E205EF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 l="17648"/>
          <a:stretch>
            <a:fillRect/>
          </a:stretch>
        </p:blipFill>
        <p:spPr>
          <a:xfrm>
            <a:off x="0" y="0"/>
            <a:ext cx="1219200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E4C373B-BDBE-D237-D335-3536BA51E168}"/>
              </a:ext>
            </a:extLst>
          </p:cNvPr>
          <p:cNvSpPr txBox="1"/>
          <p:nvPr/>
        </p:nvSpPr>
        <p:spPr>
          <a:xfrm>
            <a:off x="423331" y="310663"/>
            <a:ext cx="112206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76000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Evidence D</a:t>
            </a:r>
          </a:p>
          <a:p>
            <a:r>
              <a:rPr lang="en-GB" sz="4800" b="1" spc="-150" dirty="0">
                <a:ln w="0"/>
                <a:gradFill>
                  <a:gsLst>
                    <a:gs pos="100000">
                      <a:srgbClr val="53575C"/>
                    </a:gs>
                    <a:gs pos="0">
                      <a:schemeClr val="bg1"/>
                    </a:gs>
                  </a:gsLst>
                  <a:lin ang="5400000"/>
                </a:gradFill>
                <a:latin typeface="Arial"/>
                <a:ea typeface="Arial"/>
                <a:cs typeface="Arial"/>
              </a:rPr>
              <a:t>Claim Grounding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B027072-505F-D0A7-F18C-46C83B51F6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6210"/>
          <a:stretch>
            <a:fillRect/>
          </a:stretch>
        </p:blipFill>
        <p:spPr>
          <a:xfrm>
            <a:off x="556469" y="2498661"/>
            <a:ext cx="5047245" cy="16073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7FBE11-F40D-C3A9-4E19-856A013D91F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4472" y="2831122"/>
            <a:ext cx="5211059" cy="284239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0A6AD74-24E0-8C91-78C2-07BF4C3B6C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82"/>
          <a:stretch>
            <a:fillRect/>
          </a:stretch>
        </p:blipFill>
        <p:spPr>
          <a:xfrm>
            <a:off x="556469" y="4250516"/>
            <a:ext cx="5047245" cy="242179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C8D87EF-079D-F24E-0F0A-0731B902C872}"/>
              </a:ext>
            </a:extLst>
          </p:cNvPr>
          <p:cNvSpPr/>
          <p:nvPr/>
        </p:nvSpPr>
        <p:spPr>
          <a:xfrm>
            <a:off x="668215" y="2813536"/>
            <a:ext cx="4835770" cy="4572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81B953-2A45-6B66-E262-CBE10DE1E277}"/>
              </a:ext>
            </a:extLst>
          </p:cNvPr>
          <p:cNvSpPr txBox="1"/>
          <p:nvPr/>
        </p:nvSpPr>
        <p:spPr>
          <a:xfrm>
            <a:off x="486129" y="2128095"/>
            <a:ext cx="47980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solidFill>
                  <a:srgbClr val="FF0000"/>
                </a:solidFill>
              </a:rPr>
              <a:t>The generated finding attributes a 300-student sample to D (2026).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FDF9FE-90DD-BB7F-0448-364E8BF6DB52}"/>
              </a:ext>
            </a:extLst>
          </p:cNvPr>
          <p:cNvSpPr/>
          <p:nvPr/>
        </p:nvSpPr>
        <p:spPr>
          <a:xfrm>
            <a:off x="6500446" y="4685098"/>
            <a:ext cx="3109547" cy="971923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4831A01-ED57-5C11-1871-3F3EED64FC3A}"/>
              </a:ext>
            </a:extLst>
          </p:cNvPr>
          <p:cNvSpPr txBox="1"/>
          <p:nvPr/>
        </p:nvSpPr>
        <p:spPr>
          <a:xfrm>
            <a:off x="6390615" y="2330220"/>
            <a:ext cx="53312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solidFill>
                  <a:srgbClr val="FF0000"/>
                </a:solidFill>
              </a:rPr>
              <a:t>D (2026) was available as abstract-only evidence; its supplied abstract does not state a sample size.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CA5CF0C-036A-9378-DD4D-AB13562DE3C9}"/>
              </a:ext>
            </a:extLst>
          </p:cNvPr>
          <p:cNvSpPr/>
          <p:nvPr/>
        </p:nvSpPr>
        <p:spPr>
          <a:xfrm>
            <a:off x="556468" y="4888523"/>
            <a:ext cx="4877177" cy="178378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5DCF57-AD8E-2ECC-C8A5-56E5BA7C81DA}"/>
              </a:ext>
            </a:extLst>
          </p:cNvPr>
          <p:cNvSpPr txBox="1"/>
          <p:nvPr/>
        </p:nvSpPr>
        <p:spPr>
          <a:xfrm>
            <a:off x="6390615" y="5941998"/>
            <a:ext cx="41411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solidFill>
                  <a:srgbClr val="FF0000"/>
                </a:solidFill>
              </a:rPr>
              <a:t>The 300-student sample appears in Shuvo et al. (2025), indicating a suspected cross-source attribution error.</a:t>
            </a: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0A159CED-18D7-BDBC-31D9-FB21F5C4843E}"/>
              </a:ext>
            </a:extLst>
          </p:cNvPr>
          <p:cNvCxnSpPr>
            <a:cxnSpLocks/>
          </p:cNvCxnSpPr>
          <p:nvPr/>
        </p:nvCxnSpPr>
        <p:spPr>
          <a:xfrm flipV="1">
            <a:off x="5433645" y="6149747"/>
            <a:ext cx="956970" cy="251053"/>
          </a:xfrm>
          <a:prstGeom prst="bentConnector3">
            <a:avLst/>
          </a:prstGeom>
          <a:ln cap="rnd">
            <a:solidFill>
              <a:srgbClr val="C00000"/>
            </a:solidFill>
            <a:headEnd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6E6E52C9-BA31-CFCD-417D-874D4B699D30}"/>
              </a:ext>
            </a:extLst>
          </p:cNvPr>
          <p:cNvCxnSpPr>
            <a:cxnSpLocks/>
          </p:cNvCxnSpPr>
          <p:nvPr/>
        </p:nvCxnSpPr>
        <p:spPr>
          <a:xfrm rot="16200000" flipV="1">
            <a:off x="4487569" y="2452658"/>
            <a:ext cx="431489" cy="282499"/>
          </a:xfrm>
          <a:prstGeom prst="bentConnector3">
            <a:avLst/>
          </a:prstGeom>
          <a:ln cap="rnd">
            <a:solidFill>
              <a:srgbClr val="C00000"/>
            </a:solidFill>
            <a:headEnd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D22B4A8-0181-B5AD-69F1-8BC8C4125F36}"/>
              </a:ext>
            </a:extLst>
          </p:cNvPr>
          <p:cNvCxnSpPr>
            <a:cxnSpLocks/>
          </p:cNvCxnSpPr>
          <p:nvPr/>
        </p:nvCxnSpPr>
        <p:spPr>
          <a:xfrm rot="16200000" flipV="1">
            <a:off x="7363424" y="3174668"/>
            <a:ext cx="1884880" cy="1119681"/>
          </a:xfrm>
          <a:prstGeom prst="bentConnector3">
            <a:avLst/>
          </a:prstGeom>
          <a:ln cap="rnd">
            <a:solidFill>
              <a:srgbClr val="C00000"/>
            </a:solidFill>
            <a:headEnd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1DA78B7-E2CB-EA70-092C-4D4E11BCCFC0}"/>
              </a:ext>
            </a:extLst>
          </p:cNvPr>
          <p:cNvSpPr txBox="1"/>
          <p:nvPr/>
        </p:nvSpPr>
        <p:spPr>
          <a:xfrm>
            <a:off x="423330" y="1433478"/>
            <a:ext cx="112206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Referenced in Slide 6: </a:t>
            </a:r>
            <a:r>
              <a:rPr lang="en-GB" dirty="0">
                <a:solidFill>
                  <a:srgbClr val="96959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Report 56 showed details crossing between sources. Full report saved in </a:t>
            </a:r>
            <a:r>
              <a:rPr lang="en-GB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evidence/</a:t>
            </a:r>
            <a:r>
              <a:rPr lang="en-GB" dirty="0" err="1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saved_reports</a:t>
            </a:r>
            <a:r>
              <a:rPr lang="en-GB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/report_56_2026-09-13_19-37-27.html </a:t>
            </a:r>
          </a:p>
        </p:txBody>
      </p:sp>
    </p:spTree>
    <p:extLst>
      <p:ext uri="{BB962C8B-B14F-4D97-AF65-F5344CB8AC3E}">
        <p14:creationId xmlns:p14="http://schemas.microsoft.com/office/powerpoint/2010/main" val="22223036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30DC3-BFDB-BCC6-8E57-CF67F416B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C58727-4C8D-81CF-AB48-12FBCAC4061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 l="17648"/>
          <a:stretch>
            <a:fillRect/>
          </a:stretch>
        </p:blipFill>
        <p:spPr>
          <a:xfrm>
            <a:off x="0" y="0"/>
            <a:ext cx="1219200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624F52B-FB52-0BFD-6834-6581E382DE38}"/>
              </a:ext>
            </a:extLst>
          </p:cNvPr>
          <p:cNvSpPr txBox="1"/>
          <p:nvPr/>
        </p:nvSpPr>
        <p:spPr>
          <a:xfrm>
            <a:off x="423331" y="310663"/>
            <a:ext cx="112206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76000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Evidence E</a:t>
            </a:r>
          </a:p>
          <a:p>
            <a:r>
              <a:rPr lang="en-GB" sz="4800" b="1" spc="-150" dirty="0">
                <a:ln w="0"/>
                <a:gradFill>
                  <a:gsLst>
                    <a:gs pos="100000">
                      <a:srgbClr val="53575C"/>
                    </a:gs>
                    <a:gs pos="0">
                      <a:schemeClr val="bg1"/>
                    </a:gs>
                  </a:gsLst>
                  <a:lin ang="5400000"/>
                </a:gradFill>
                <a:latin typeface="Arial"/>
                <a:ea typeface="Arial"/>
                <a:cs typeface="Arial"/>
              </a:rPr>
              <a:t>Testing, Verification and Functionality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029AA0-CAEA-2C45-2BDB-D8F2558ED6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01713" y="2392461"/>
            <a:ext cx="5642296" cy="3109021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11810E-1A7A-88C1-F5B4-213B2FDE396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991" y="2392461"/>
            <a:ext cx="5236247" cy="3109021"/>
          </a:xfrm>
          <a:prstGeom prst="rect">
            <a:avLst/>
          </a:prstGeom>
          <a:ln w="19050">
            <a:solidFill>
              <a:schemeClr val="bg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7C35DFC-55B1-FD06-4126-4DDC69E0BE24}"/>
              </a:ext>
            </a:extLst>
          </p:cNvPr>
          <p:cNvSpPr txBox="1"/>
          <p:nvPr/>
        </p:nvSpPr>
        <p:spPr>
          <a:xfrm>
            <a:off x="423330" y="1433478"/>
            <a:ext cx="112206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Referenced in Slide 7: </a:t>
            </a:r>
            <a:r>
              <a:rPr lang="en-GB" dirty="0">
                <a:solidFill>
                  <a:srgbClr val="96959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263 Python tests passed in 11.29s. Full test saved in </a:t>
            </a:r>
            <a:r>
              <a:rPr lang="en-GB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evidence/</a:t>
            </a:r>
            <a:r>
              <a:rPr lang="en-GB" dirty="0" err="1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test_results</a:t>
            </a:r>
            <a:r>
              <a:rPr lang="en-GB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/05_final_pytest_results.txt</a:t>
            </a:r>
          </a:p>
        </p:txBody>
      </p:sp>
    </p:spTree>
    <p:extLst>
      <p:ext uri="{BB962C8B-B14F-4D97-AF65-F5344CB8AC3E}">
        <p14:creationId xmlns:p14="http://schemas.microsoft.com/office/powerpoint/2010/main" val="2667684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E70AB-D38B-2838-DC1F-114D8A02B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BC141B9-7BB0-5484-AC12-6852CD063E3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 l="17648"/>
          <a:stretch>
            <a:fillRect/>
          </a:stretch>
        </p:blipFill>
        <p:spPr>
          <a:xfrm>
            <a:off x="0" y="0"/>
            <a:ext cx="1219200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3034751-ECFC-31BD-93F7-E10BAA0324FF}"/>
              </a:ext>
            </a:extLst>
          </p:cNvPr>
          <p:cNvSpPr txBox="1"/>
          <p:nvPr/>
        </p:nvSpPr>
        <p:spPr>
          <a:xfrm>
            <a:off x="423331" y="310663"/>
            <a:ext cx="112206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76000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Evidence F1</a:t>
            </a:r>
          </a:p>
          <a:p>
            <a:r>
              <a:rPr lang="en-GB" sz="4800" b="1" spc="-150" dirty="0">
                <a:ln w="0"/>
                <a:gradFill>
                  <a:gsLst>
                    <a:gs pos="100000">
                      <a:srgbClr val="53575C"/>
                    </a:gs>
                    <a:gs pos="0">
                      <a:schemeClr val="bg1"/>
                    </a:gs>
                  </a:gsLst>
                  <a:lin ang="5400000"/>
                </a:gradFill>
                <a:latin typeface="Arial"/>
                <a:ea typeface="Arial"/>
                <a:cs typeface="Arial"/>
              </a:rPr>
              <a:t>Final Live Execution and Auditability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ADA241-03EF-645F-D34A-351266C6D5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978" y="1821655"/>
            <a:ext cx="4886691" cy="25095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99FA8B5-9B6A-8BD3-1236-2323FB58497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77" r="19183"/>
          <a:stretch>
            <a:fillRect/>
          </a:stretch>
        </p:blipFill>
        <p:spPr>
          <a:xfrm>
            <a:off x="5394475" y="1839541"/>
            <a:ext cx="3121028" cy="24916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1F06192-2A78-DA31-7D98-EB02737432D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528" r="18732"/>
          <a:stretch>
            <a:fillRect/>
          </a:stretch>
        </p:blipFill>
        <p:spPr>
          <a:xfrm>
            <a:off x="8807482" y="1843466"/>
            <a:ext cx="3092539" cy="24916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938D51-D4A9-FFC4-7BFE-F2B98DE1F74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553" r="18278"/>
          <a:stretch>
            <a:fillRect/>
          </a:stretch>
        </p:blipFill>
        <p:spPr>
          <a:xfrm>
            <a:off x="261074" y="4596006"/>
            <a:ext cx="2628900" cy="210391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4C4FD32-1FEB-4921-B442-6BF0EFF589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13" r="16701"/>
          <a:stretch>
            <a:fillRect/>
          </a:stretch>
        </p:blipFill>
        <p:spPr>
          <a:xfrm>
            <a:off x="3125567" y="4596006"/>
            <a:ext cx="2699238" cy="2108182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0F6897DB-7B0F-7F76-4F4D-D00AB45F415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87" r="13350"/>
          <a:stretch>
            <a:fillRect/>
          </a:stretch>
        </p:blipFill>
        <p:spPr>
          <a:xfrm>
            <a:off x="6031290" y="4589604"/>
            <a:ext cx="2866292" cy="209751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A98F0B4D-CA4B-B21C-ABDB-54E1536C7EE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91" r="15562"/>
          <a:stretch>
            <a:fillRect/>
          </a:stretch>
        </p:blipFill>
        <p:spPr>
          <a:xfrm>
            <a:off x="9104067" y="4596006"/>
            <a:ext cx="2795954" cy="2108182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D28DC70A-D663-48E8-18F6-0E940995BF81}"/>
              </a:ext>
            </a:extLst>
          </p:cNvPr>
          <p:cNvSpPr txBox="1"/>
          <p:nvPr/>
        </p:nvSpPr>
        <p:spPr>
          <a:xfrm>
            <a:off x="423330" y="1433478"/>
            <a:ext cx="11220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Referenced in Slide 8: </a:t>
            </a:r>
            <a:r>
              <a:rPr lang="en-GB" dirty="0">
                <a:solidFill>
                  <a:srgbClr val="96959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Full report saved in </a:t>
            </a:r>
            <a:r>
              <a:rPr lang="en-GB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evidence/</a:t>
            </a:r>
            <a:r>
              <a:rPr lang="en-GB" dirty="0" err="1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saved_reports</a:t>
            </a:r>
            <a:r>
              <a:rPr lang="en-GB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/report_64_2026-09-14_21-41-21.html</a:t>
            </a:r>
          </a:p>
        </p:txBody>
      </p:sp>
    </p:spTree>
    <p:extLst>
      <p:ext uri="{BB962C8B-B14F-4D97-AF65-F5344CB8AC3E}">
        <p14:creationId xmlns:p14="http://schemas.microsoft.com/office/powerpoint/2010/main" val="317103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FDD0C-5CA7-2801-95EA-75CFDC1E9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067E240-5E31-88DC-C62A-6FAF0F8959E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 l="17648"/>
          <a:stretch>
            <a:fillRect/>
          </a:stretch>
        </p:blipFill>
        <p:spPr>
          <a:xfrm>
            <a:off x="0" y="0"/>
            <a:ext cx="1219200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49077F3-7866-CD60-CB46-B7171CF2CA9D}"/>
              </a:ext>
            </a:extLst>
          </p:cNvPr>
          <p:cNvSpPr txBox="1"/>
          <p:nvPr/>
        </p:nvSpPr>
        <p:spPr>
          <a:xfrm>
            <a:off x="423331" y="310663"/>
            <a:ext cx="112206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76000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Evidence F2</a:t>
            </a:r>
          </a:p>
          <a:p>
            <a:r>
              <a:rPr lang="en-GB" sz="4800" b="1" spc="-150" dirty="0">
                <a:ln w="0"/>
                <a:gradFill>
                  <a:gsLst>
                    <a:gs pos="100000">
                      <a:srgbClr val="53575C"/>
                    </a:gs>
                    <a:gs pos="0">
                      <a:schemeClr val="bg1"/>
                    </a:gs>
                  </a:gsLst>
                  <a:lin ang="5400000"/>
                </a:gradFill>
                <a:latin typeface="Arial"/>
                <a:ea typeface="Arial"/>
                <a:cs typeface="Arial"/>
              </a:rPr>
              <a:t>Final Live Execution and Auditability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7303142-FF69-E917-FBE1-AA87CB2986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71" r="15768"/>
          <a:stretch>
            <a:fillRect/>
          </a:stretch>
        </p:blipFill>
        <p:spPr>
          <a:xfrm>
            <a:off x="1445878" y="4292769"/>
            <a:ext cx="3079972" cy="2305682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5F375DCB-B5DD-967B-E6D1-B472553F0B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71" r="15768"/>
          <a:stretch>
            <a:fillRect/>
          </a:stretch>
        </p:blipFill>
        <p:spPr>
          <a:xfrm>
            <a:off x="1445878" y="1988340"/>
            <a:ext cx="3079972" cy="218852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5302204B-67BF-499A-C8F4-CCCE58992B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02" r="17484"/>
          <a:stretch>
            <a:fillRect/>
          </a:stretch>
        </p:blipFill>
        <p:spPr>
          <a:xfrm>
            <a:off x="4690114" y="1988340"/>
            <a:ext cx="5957372" cy="46088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9A352C-1690-BB9F-CA97-1818DFBD819F}"/>
              </a:ext>
            </a:extLst>
          </p:cNvPr>
          <p:cNvSpPr txBox="1"/>
          <p:nvPr/>
        </p:nvSpPr>
        <p:spPr>
          <a:xfrm>
            <a:off x="423330" y="1433478"/>
            <a:ext cx="11220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Referenced in Slide 8: </a:t>
            </a:r>
            <a:r>
              <a:rPr lang="en-GB" dirty="0">
                <a:solidFill>
                  <a:srgbClr val="96959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Full report saved in </a:t>
            </a:r>
            <a:r>
              <a:rPr lang="en-GB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evidence/</a:t>
            </a:r>
            <a:r>
              <a:rPr lang="en-GB" dirty="0" err="1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saved_reports</a:t>
            </a:r>
            <a:r>
              <a:rPr lang="en-GB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/report_64_2026-09-14_21-41-21.html</a:t>
            </a:r>
          </a:p>
        </p:txBody>
      </p:sp>
    </p:spTree>
    <p:extLst>
      <p:ext uri="{BB962C8B-B14F-4D97-AF65-F5344CB8AC3E}">
        <p14:creationId xmlns:p14="http://schemas.microsoft.com/office/powerpoint/2010/main" val="3014747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B0D15-CDD5-68DD-0468-0F10DA99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747F34-B47F-D71C-D2CA-9571536960C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 l="17648"/>
          <a:stretch>
            <a:fillRect/>
          </a:stretch>
        </p:blipFill>
        <p:spPr>
          <a:xfrm>
            <a:off x="0" y="0"/>
            <a:ext cx="12192001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6D3C56-FC4B-A97D-8797-369526FCAC7D}"/>
              </a:ext>
            </a:extLst>
          </p:cNvPr>
          <p:cNvSpPr txBox="1"/>
          <p:nvPr/>
        </p:nvSpPr>
        <p:spPr>
          <a:xfrm>
            <a:off x="423331" y="310663"/>
            <a:ext cx="112206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76000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Evidence G</a:t>
            </a:r>
          </a:p>
          <a:p>
            <a:r>
              <a:rPr lang="en-GB" sz="4800" b="1" spc="-150" dirty="0">
                <a:ln w="0"/>
                <a:gradFill>
                  <a:gsLst>
                    <a:gs pos="100000">
                      <a:srgbClr val="53575C"/>
                    </a:gs>
                    <a:gs pos="0">
                      <a:schemeClr val="bg1"/>
                    </a:gs>
                  </a:gsLst>
                  <a:lin ang="5400000"/>
                </a:gradFill>
                <a:latin typeface="Arial"/>
                <a:ea typeface="Arial"/>
                <a:cs typeface="Arial"/>
              </a:rPr>
              <a:t>GitHub Commit Evidence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65BFFB-921E-8F78-5C67-CB24BC82BDFC}"/>
              </a:ext>
            </a:extLst>
          </p:cNvPr>
          <p:cNvSpPr txBox="1"/>
          <p:nvPr/>
        </p:nvSpPr>
        <p:spPr>
          <a:xfrm>
            <a:off x="423330" y="1433478"/>
            <a:ext cx="11220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Referenced in Slide 10: </a:t>
            </a:r>
            <a:r>
              <a:rPr lang="en-GB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https://github.com/ishalaan/academic-evidence-investigator</a:t>
            </a:r>
            <a:r>
              <a:rPr lang="en-GB" dirty="0">
                <a:solidFill>
                  <a:srgbClr val="96959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A6E893-667C-6BBD-A001-06F708AC74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8868" y="2043143"/>
            <a:ext cx="8229600" cy="4282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0723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6456</TotalTime>
  <Words>278</Words>
  <Application>Microsoft Office PowerPoint</Application>
  <PresentationFormat>Widescreen</PresentationFormat>
  <Paragraphs>36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Izzy Shalaan</dc:creator>
  <cp:lastModifiedBy>Izzy Shalaan</cp:lastModifiedBy>
  <cp:revision>161</cp:revision>
  <dcterms:created xsi:type="dcterms:W3CDTF">2026-09-13T14:14:11Z</dcterms:created>
  <dcterms:modified xsi:type="dcterms:W3CDTF">2026-09-22T13:32:35Z</dcterms:modified>
</cp:coreProperties>
</file>